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92" r:id="rId5"/>
    <p:sldId id="296" r:id="rId6"/>
    <p:sldId id="297" r:id="rId7"/>
    <p:sldId id="298" r:id="rId8"/>
    <p:sldId id="301" r:id="rId9"/>
    <p:sldId id="299" r:id="rId10"/>
    <p:sldId id="302" r:id="rId11"/>
    <p:sldId id="300" r:id="rId12"/>
    <p:sldId id="303" r:id="rId13"/>
    <p:sldId id="305" r:id="rId14"/>
    <p:sldId id="306" r:id="rId15"/>
    <p:sldId id="307" r:id="rId16"/>
    <p:sldId id="304" r:id="rId17"/>
    <p:sldId id="279" r:id="rId18"/>
    <p:sldId id="278" r:id="rId19"/>
    <p:sldId id="309" r:id="rId20"/>
    <p:sldId id="308" r:id="rId21"/>
    <p:sldId id="311" r:id="rId22"/>
    <p:sldId id="313" r:id="rId23"/>
    <p:sldId id="314" r:id="rId24"/>
    <p:sldId id="312" r:id="rId25"/>
    <p:sldId id="27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>
        <p:scale>
          <a:sx n="75" d="100"/>
          <a:sy n="75" d="100"/>
        </p:scale>
        <p:origin x="540" y="5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Rank warehouses based on on-time delivery percentage.</a:t>
            </a:r>
            <a:endParaRPr lang="en-IN" sz="16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Sheet1!$K$53</c:f>
              <c:strCache>
                <c:ptCount val="1"/>
                <c:pt idx="0">
                  <c:v> on_time_percentage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Sheet1!$J$54:$J$63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Sheet1!$K$54:$K$63</c:f>
              <c:numCache>
                <c:formatCode>General</c:formatCode>
                <c:ptCount val="10"/>
                <c:pt idx="0">
                  <c:v>76.190479999999994</c:v>
                </c:pt>
                <c:pt idx="1">
                  <c:v>67.567570000000003</c:v>
                </c:pt>
                <c:pt idx="2">
                  <c:v>64.285709999999995</c:v>
                </c:pt>
                <c:pt idx="3">
                  <c:v>61.290320000000001</c:v>
                </c:pt>
                <c:pt idx="4">
                  <c:v>60.606059999999999</c:v>
                </c:pt>
                <c:pt idx="5">
                  <c:v>60.526319999999998</c:v>
                </c:pt>
                <c:pt idx="6">
                  <c:v>47.058819999999997</c:v>
                </c:pt>
                <c:pt idx="7">
                  <c:v>44</c:v>
                </c:pt>
                <c:pt idx="8">
                  <c:v>43.478259999999999</c:v>
                </c:pt>
                <c:pt idx="9">
                  <c:v>33.333329999999997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E8-4E33-9475-74C652E0D029}"/>
            </c:ext>
          </c:extLst>
        </c:ser>
        <c:ser>
          <c:idx val="1"/>
          <c:order val="1"/>
          <c:tx>
            <c:strRef>
              <c:f>Sheet1!$L$53</c:f>
              <c:strCache>
                <c:ptCount val="1"/>
                <c:pt idx="0">
                  <c:v>warehouse_rank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Sheet1!$J$54:$J$63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Sheet1!$L$54:$L$63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E8-4E33-9475-74C652E0D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382035472"/>
        <c:axId val="1382028752"/>
      </c:barChart>
      <c:catAx>
        <c:axId val="1382035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2028752"/>
        <c:crosses val="autoZero"/>
        <c:auto val="1"/>
        <c:lblAlgn val="ctr"/>
        <c:lblOffset val="100"/>
        <c:noMultiLvlLbl val="0"/>
      </c:catAx>
      <c:valAx>
        <c:axId val="138202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2035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Sheet1!$K$26</c:f>
              <c:strCache>
                <c:ptCount val="1"/>
                <c:pt idx="0">
                  <c:v>Frequency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Sheet1!$J$27:$J$29</c:f>
              <c:strCache>
                <c:ptCount val="3"/>
                <c:pt idx="0">
                  <c:v>Sorting Delay</c:v>
                </c:pt>
                <c:pt idx="1">
                  <c:v>Weather</c:v>
                </c:pt>
                <c:pt idx="2">
                  <c:v>Traffic</c:v>
                </c:pt>
              </c:strCache>
            </c:strRef>
          </c:cat>
          <c:val>
            <c:numRef>
              <c:f>Sheet1!$K$27:$K$29</c:f>
              <c:numCache>
                <c:formatCode>General</c:formatCode>
                <c:ptCount val="3"/>
                <c:pt idx="0">
                  <c:v>272</c:v>
                </c:pt>
                <c:pt idx="1">
                  <c:v>263</c:v>
                </c:pt>
                <c:pt idx="2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AC-40CB-8748-C1FAAC2CA1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412991"/>
        <c:axId val="48401471"/>
      </c:barChart>
      <c:catAx>
        <c:axId val="484129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Delay Reason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401471"/>
        <c:crosses val="autoZero"/>
        <c:auto val="1"/>
        <c:lblAlgn val="ctr"/>
        <c:lblOffset val="100"/>
        <c:noMultiLvlLbl val="0"/>
      </c:catAx>
      <c:valAx>
        <c:axId val="48401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412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Orders</a:t>
            </a:r>
            <a:r>
              <a:rPr lang="en-US" baseline="0" dirty="0"/>
              <a:t> with &gt;2 delayed checkpoints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Order_id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A3B-48E6-9946-044BA4BB72E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A3B-48E6-9946-044BA4BB72E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A3B-48E6-9946-044BA4BB72E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A3B-48E6-9946-044BA4BB72E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A3B-48E6-9946-044BA4BB72E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A3B-48E6-9946-044BA4BB72E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DA3B-48E6-9946-044BA4BB72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B-48E6-9946-044BA4BB72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Delayed_Checkpoints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3B-48E6-9946-044BA4BB72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DA3B-48E6-9946-044BA4BB72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29132831"/>
        <c:axId val="1629133311"/>
      </c:barChart>
      <c:catAx>
        <c:axId val="16291328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Order_Id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9133311"/>
        <c:crosses val="autoZero"/>
        <c:auto val="1"/>
        <c:lblAlgn val="ctr"/>
        <c:lblOffset val="100"/>
        <c:noMultiLvlLbl val="0"/>
      </c:catAx>
      <c:valAx>
        <c:axId val="1629133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Delayed_Checkpoints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9132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On</a:t>
            </a:r>
            <a:r>
              <a:rPr lang="en-IN" baseline="0"/>
              <a:t> time</a:t>
            </a:r>
            <a:r>
              <a:rPr lang="en-IN"/>
              <a:t> Delivery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Sheet1!$B$28</c:f>
              <c:strCache>
                <c:ptCount val="1"/>
                <c:pt idx="0">
                  <c:v>Total Delivery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Sheet1!$B$29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78-4A50-940D-6FCFDC96A65B}"/>
            </c:ext>
          </c:extLst>
        </c:ser>
        <c:ser>
          <c:idx val="1"/>
          <c:order val="1"/>
          <c:tx>
            <c:strRef>
              <c:f>Sheet1!$C$28</c:f>
              <c:strCache>
                <c:ptCount val="1"/>
                <c:pt idx="0">
                  <c:v>On time Delivery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Sheet1!$C$29</c:f>
              <c:numCache>
                <c:formatCode>General</c:formatCode>
                <c:ptCount val="1"/>
                <c:pt idx="0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78-4A50-940D-6FCFDC96A65B}"/>
            </c:ext>
          </c:extLst>
        </c:ser>
        <c:ser>
          <c:idx val="2"/>
          <c:order val="2"/>
          <c:tx>
            <c:strRef>
              <c:f>Sheet1!$D$28</c:f>
              <c:strCache>
                <c:ptCount val="1"/>
                <c:pt idx="0">
                  <c:v>On time Percentage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Sheet1!$D$29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78-4A50-940D-6FCFDC96A6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80289184"/>
        <c:axId val="1280301664"/>
      </c:barChart>
      <c:catAx>
        <c:axId val="12802891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On time Delivery</a:t>
                </a:r>
              </a:p>
            </c:rich>
          </c:tx>
          <c:layout>
            <c:manualLayout>
              <c:xMode val="edge"/>
              <c:yMode val="edge"/>
              <c:x val="0.57438214684908573"/>
              <c:y val="0.80586383259805039"/>
            </c:manualLayout>
          </c:layout>
          <c:overlay val="0"/>
          <c:spPr>
            <a:noFill/>
            <a:ln>
              <a:solidFill>
                <a:schemeClr val="accent1">
                  <a:alpha val="92000"/>
                </a:schemeClr>
              </a:solidFill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301664"/>
        <c:crosses val="autoZero"/>
        <c:auto val="1"/>
        <c:lblAlgn val="ctr"/>
        <c:lblOffset val="100"/>
        <c:noMultiLvlLbl val="0"/>
      </c:catAx>
      <c:valAx>
        <c:axId val="1280301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289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Traffic_Delay_Min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Sheet1!$C$34:$E$34</c:f>
              <c:strCache>
                <c:ptCount val="3"/>
                <c:pt idx="0">
                  <c:v>R014</c:v>
                </c:pt>
                <c:pt idx="1">
                  <c:v>North Edward</c:v>
                </c:pt>
                <c:pt idx="2">
                  <c:v>Matthewport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Sheet1!$F$33</c:f>
              <c:strCache>
                <c:ptCount val="1"/>
                <c:pt idx="0">
                  <c:v>Avg_Traffic_Delay</c:v>
                </c:pt>
              </c:strCache>
            </c:strRef>
          </c:cat>
          <c:val>
            <c:numRef>
              <c:f>Sheet1!$F$34</c:f>
              <c:numCache>
                <c:formatCode>General</c:formatCode>
                <c:ptCount val="1"/>
                <c:pt idx="0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E7-4E03-ADE9-8CECAEF04115}"/>
            </c:ext>
          </c:extLst>
        </c:ser>
        <c:ser>
          <c:idx val="1"/>
          <c:order val="1"/>
          <c:tx>
            <c:strRef>
              <c:f>Sheet1!$C$35:$E$35</c:f>
              <c:strCache>
                <c:ptCount val="3"/>
                <c:pt idx="0">
                  <c:v>R007</c:v>
                </c:pt>
                <c:pt idx="1">
                  <c:v>Aaronhaven</c:v>
                </c:pt>
                <c:pt idx="2">
                  <c:v>Jeanneberg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Sheet1!$F$33</c:f>
              <c:strCache>
                <c:ptCount val="1"/>
                <c:pt idx="0">
                  <c:v>Avg_Traffic_Delay</c:v>
                </c:pt>
              </c:strCache>
            </c:strRef>
          </c:cat>
          <c:val>
            <c:numRef>
              <c:f>Sheet1!$F$35</c:f>
              <c:numCache>
                <c:formatCode>General</c:formatCode>
                <c:ptCount val="1"/>
                <c:pt idx="0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E7-4E03-ADE9-8CECAEF04115}"/>
            </c:ext>
          </c:extLst>
        </c:ser>
        <c:ser>
          <c:idx val="2"/>
          <c:order val="2"/>
          <c:tx>
            <c:strRef>
              <c:f>Sheet1!$C$36:$E$36</c:f>
              <c:strCache>
                <c:ptCount val="3"/>
                <c:pt idx="0">
                  <c:v>R009</c:v>
                </c:pt>
                <c:pt idx="1">
                  <c:v>Bellfurt</c:v>
                </c:pt>
                <c:pt idx="2">
                  <c:v>Lake Marvin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Sheet1!$F$33</c:f>
              <c:strCache>
                <c:ptCount val="1"/>
                <c:pt idx="0">
                  <c:v>Avg_Traffic_Delay</c:v>
                </c:pt>
              </c:strCache>
            </c:strRef>
          </c:cat>
          <c:val>
            <c:numRef>
              <c:f>Sheet1!$F$36</c:f>
              <c:numCache>
                <c:formatCode>General</c:formatCode>
                <c:ptCount val="1"/>
                <c:pt idx="0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E7-4E03-ADE9-8CECAEF04115}"/>
            </c:ext>
          </c:extLst>
        </c:ser>
        <c:ser>
          <c:idx val="3"/>
          <c:order val="3"/>
          <c:tx>
            <c:strRef>
              <c:f>Sheet1!$C$37:$E$37</c:f>
              <c:strCache>
                <c:ptCount val="3"/>
                <c:pt idx="0">
                  <c:v>R006</c:v>
                </c:pt>
                <c:pt idx="1">
                  <c:v>Lake Robinhaven</c:v>
                </c:pt>
                <c:pt idx="2">
                  <c:v>East Christopherville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Sheet1!$F$33</c:f>
              <c:strCache>
                <c:ptCount val="1"/>
                <c:pt idx="0">
                  <c:v>Avg_Traffic_Delay</c:v>
                </c:pt>
              </c:strCache>
            </c:strRef>
          </c:cat>
          <c:val>
            <c:numRef>
              <c:f>Sheet1!$F$37</c:f>
              <c:numCache>
                <c:formatCode>General</c:formatCode>
                <c:ptCount val="1"/>
                <c:pt idx="0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E7-4E03-ADE9-8CECAEF04115}"/>
            </c:ext>
          </c:extLst>
        </c:ser>
        <c:ser>
          <c:idx val="4"/>
          <c:order val="4"/>
          <c:tx>
            <c:strRef>
              <c:f>Sheet1!$C$38:$E$38</c:f>
              <c:strCache>
                <c:ptCount val="3"/>
                <c:pt idx="0">
                  <c:v>R010</c:v>
                </c:pt>
                <c:pt idx="1">
                  <c:v>North Aliceside</c:v>
                </c:pt>
                <c:pt idx="2">
                  <c:v>Lake Jennifer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Sheet1!$F$33</c:f>
              <c:strCache>
                <c:ptCount val="1"/>
                <c:pt idx="0">
                  <c:v>Avg_Traffic_Delay</c:v>
                </c:pt>
              </c:strCache>
            </c:strRef>
          </c:cat>
          <c:val>
            <c:numRef>
              <c:f>Sheet1!$F$38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E7-4E03-ADE9-8CECAEF04115}"/>
            </c:ext>
          </c:extLst>
        </c:ser>
        <c:ser>
          <c:idx val="5"/>
          <c:order val="5"/>
          <c:tx>
            <c:strRef>
              <c:f>Sheet1!$C$39:$E$39</c:f>
              <c:strCache>
                <c:ptCount val="3"/>
                <c:pt idx="0">
                  <c:v>R013</c:v>
                </c:pt>
                <c:pt idx="1">
                  <c:v>South Johnville</c:v>
                </c:pt>
                <c:pt idx="2">
                  <c:v>Port Scott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Sheet1!$F$33</c:f>
              <c:strCache>
                <c:ptCount val="1"/>
                <c:pt idx="0">
                  <c:v>Avg_Traffic_Delay</c:v>
                </c:pt>
              </c:strCache>
            </c:strRef>
          </c:cat>
          <c:val>
            <c:numRef>
              <c:f>Sheet1!$F$39</c:f>
              <c:numCache>
                <c:formatCode>General</c:formatCode>
                <c:ptCount val="1"/>
                <c:pt idx="0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E7-4E03-ADE9-8CECAEF04115}"/>
            </c:ext>
          </c:extLst>
        </c:ser>
        <c:ser>
          <c:idx val="6"/>
          <c:order val="6"/>
          <c:tx>
            <c:strRef>
              <c:f>Sheet1!$C$40:$E$40</c:f>
              <c:strCache>
                <c:ptCount val="3"/>
                <c:pt idx="0">
                  <c:v>R019</c:v>
                </c:pt>
                <c:pt idx="1">
                  <c:v>Lake Oscarfurt</c:v>
                </c:pt>
                <c:pt idx="2">
                  <c:v>New Ivanshire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Sheet1!$F$33</c:f>
              <c:strCache>
                <c:ptCount val="1"/>
                <c:pt idx="0">
                  <c:v>Avg_Traffic_Delay</c:v>
                </c:pt>
              </c:strCache>
            </c:strRef>
          </c:cat>
          <c:val>
            <c:numRef>
              <c:f>Sheet1!$F$40</c:f>
              <c:numCache>
                <c:formatCode>General</c:formatCode>
                <c:ptCount val="1"/>
                <c:pt idx="0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E7-4E03-ADE9-8CECAEF041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80302144"/>
        <c:axId val="1280293504"/>
      </c:barChart>
      <c:catAx>
        <c:axId val="12803021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End</a:t>
                </a:r>
                <a:r>
                  <a:rPr lang="en-IN" baseline="0"/>
                  <a:t> Location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293504"/>
        <c:crosses val="autoZero"/>
        <c:auto val="1"/>
        <c:lblAlgn val="ctr"/>
        <c:lblOffset val="100"/>
        <c:noMultiLvlLbl val="0"/>
      </c:catAx>
      <c:valAx>
        <c:axId val="1280293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Avg_Traffic _Delay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302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3EEB1-1AC7-7756-B84F-F52FDA3F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D5E38-F5D7-01B3-91E8-2A0132BEE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9202D-86CF-8D39-1D75-BB4ABC481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1E213-1C41-28E0-554F-9CF26AC61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7268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3701-EBFF-59DE-61EA-1891E365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C3434-5BCF-FF87-AE8B-E86BCC28C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3E383-82C0-EB83-4032-CD26447CF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71D0A-ED45-01F0-E3CC-0489CAF0F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4144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18EC8-EF22-123E-97FC-E3CD95B7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AB904-2E7B-79C5-02AF-803378EE9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8C50B-C5B5-A237-621C-96FBC776A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09491-6F93-03C2-7876-A71AEC020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9114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12571-1BFE-9A29-1F5A-0EDFA936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B8F39-1CA1-7671-2575-32C15C79B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26830-736D-68F6-39B1-21AC6930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4ECD7-C61B-82A9-66BE-BC5C14506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4985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F3D5-40DA-A18D-55B9-D21A2CB0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13394-4371-CDC6-4B0C-1673FE680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40C4E-7373-8A8E-425F-3C6D3C3E8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BBF5D-8205-45A9-E2FE-B597DEC1A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7130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5CD9-FCEC-4087-EE0F-92EA7CB6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D9C47-3D1D-4388-BA33-2CEEE494C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C5B5F-0D7A-41DF-3838-1FF8E4FD1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6F8AB-FBB6-B591-3489-6B7E938A5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0048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9D10C-E7E2-43FD-06C5-DB9505BB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404F1-30D3-41D7-BBFC-0EF1091CD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56E8A-7D69-3194-4C03-DBD68EF99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01C6B-679B-40BC-E9BC-BA1A6CF6D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1131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4FA2C-9491-AD9B-44FD-AEB08DB1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5DE6D-C984-B4CC-48F1-1D69038F8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244F3-EDA4-B2E0-C1CF-0F1D60CC1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EEF16-AF6A-54F2-9590-872B6C22B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4906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0E23-7682-651A-BEF0-6666C05F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6B90B-264E-ED0E-90B0-6B3023519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092D9-2493-509F-E942-C57FB4557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11AD5-64F5-7ED8-F986-F93C88A3C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4461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F767-1032-B814-9DA3-623CD508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CE28C-B344-5E83-1C93-F89BDFB67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9024B-0EAA-3BB3-E165-24EBE67DD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66A3F-D992-17F6-9AB3-E8A011A71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6094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B515-7710-3EC2-671E-42FDD831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DB8F8-2EC3-0737-284A-FEC54D220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4A568-0452-35A3-1E24-D355BB01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AAB41-D9F7-77A8-FD8E-83E369774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4837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62C7-6285-F0C5-0C4A-AF2097379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2FEBA-CFF4-5406-5B5A-97BCE99D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D2777-E998-A415-6B21-4C0DD1727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0CC24-B493-A9AE-FDAC-3596FBFDA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7195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6BFA3-F531-1544-CE8B-37D9B530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0EAA6-BC68-2573-2256-5D4C480FA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33CA0-8EAD-8A61-9E04-4CF0137D6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5918E-C2A7-A457-2ECA-80C239823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5909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8A111-6E96-8AF7-8662-7A0A4A5F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950DD-1D7E-1108-95BB-953F7E033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EB9F1-7A05-F917-141E-8EEEDA273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2EB1D-2C2B-B1E3-9B26-724551510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7053991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A4BDA-1522-9EF7-99E4-5D93E14E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038ED-13BF-7B42-DF34-18E5B6CDB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3B445-D116-99B2-026A-2BAD9D957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609A5-F5A0-7C12-E4D0-B69C3965B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89837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DCE7-B7D5-27DB-DA17-B4E33998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0F6E6-1EC8-6A1F-511A-445B0C152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A3AE2-6DF8-8E73-7FCF-841A45B65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C079C-7CA7-68C8-56A9-AC6E08394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322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95DB-2E19-DCC5-44FF-7234B70C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3319C-B832-12A4-2A5F-3915F8BD5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0487F-ACAC-B45A-001B-8984E8212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9DC2C-9FE4-F07D-CF0E-A743E3269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95835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EE3E-C394-8EDB-CE4F-96424D6C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04661-FBB8-71F7-1B13-11E676015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65E36-FCA2-B43F-C852-52CCFCC3E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56B7D-8A13-8685-D6AD-5F19D2FF4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603252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2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3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4.xml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5.xml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28" y="1350985"/>
            <a:ext cx="5936566" cy="2078015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C4_ Project_Logistics Optimization for Delivery Routes_UPS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88825" y="4365929"/>
            <a:ext cx="2253182" cy="760288"/>
          </a:xfrm>
        </p:spPr>
        <p:txBody>
          <a:bodyPr/>
          <a:lstStyle/>
          <a:p>
            <a:r>
              <a:rPr lang="en-US" dirty="0"/>
              <a:t> Praveen Sai Lingala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7981912" y="576936"/>
            <a:ext cx="3126205" cy="3595148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70702" y="-83919"/>
            <a:ext cx="1274830" cy="143490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5625" y="3429000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E82E-51A5-32B3-F2F5-2EC7D789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218E63-3D4F-7873-93ED-A885CC09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1: Data Cleaning &amp; Preparation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35464-1063-0247-9302-1A6303E3CDA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2" y="6217920"/>
            <a:ext cx="4281332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C4_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Project_Logistics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for Delivery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Routes_UPS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D1F2B-9072-2CBD-135B-056B74F408A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3F0BC-E929-0EC9-598A-A0F64946C018}"/>
              </a:ext>
            </a:extLst>
          </p:cNvPr>
          <p:cNvSpPr txBox="1"/>
          <p:nvPr/>
        </p:nvSpPr>
        <p:spPr>
          <a:xfrm>
            <a:off x="484632" y="1748941"/>
            <a:ext cx="5378396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 and delete duplicate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Order_ID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records. </a:t>
            </a:r>
            <a:endParaRPr lang="en-IN" sz="1800" b="1" dirty="0">
              <a:solidFill>
                <a:prstClr val="white"/>
              </a:solidFill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83924-854B-2AE2-D423-252034CEEB69}"/>
              </a:ext>
            </a:extLst>
          </p:cNvPr>
          <p:cNvSpPr txBox="1"/>
          <p:nvPr/>
        </p:nvSpPr>
        <p:spPr>
          <a:xfrm>
            <a:off x="396893" y="2583164"/>
            <a:ext cx="5553893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is No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Duplcates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found 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Order_id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from Orders Table</a:t>
            </a:r>
            <a:endParaRPr lang="en-IN" sz="1600" dirty="0">
              <a:solidFill>
                <a:prstClr val="white"/>
              </a:solidFill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F565D8-4E0F-D5E8-830F-61E86EC21329}"/>
              </a:ext>
            </a:extLst>
          </p:cNvPr>
          <p:cNvSpPr txBox="1"/>
          <p:nvPr/>
        </p:nvSpPr>
        <p:spPr>
          <a:xfrm>
            <a:off x="6589886" y="2614023"/>
            <a:ext cx="308050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Output for no duplicates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9870C-D62D-6443-66C2-526113298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09" y="3313873"/>
            <a:ext cx="4550480" cy="1729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438BCE-37A4-0232-BE28-88D5F3FEC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345" y="3313873"/>
            <a:ext cx="3131045" cy="163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14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40B7-3335-15B8-EC56-24FFB4D4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6D4E7-CF45-E9A5-04BE-A7A515F9AC9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1" y="6217920"/>
            <a:ext cx="4419877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C4_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Project_Logistics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for Delivery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Routes_UPS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A1A1-9997-44AE-9F82-48E80AAD6AF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E507B-0E7D-9024-2EAC-33BD988E67E2}"/>
              </a:ext>
            </a:extLst>
          </p:cNvPr>
          <p:cNvSpPr txBox="1"/>
          <p:nvPr/>
        </p:nvSpPr>
        <p:spPr>
          <a:xfrm>
            <a:off x="484630" y="138000"/>
            <a:ext cx="8972659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Replace null Traffic_Delay_Min with the average delay for that route.</a:t>
            </a:r>
            <a:endParaRPr lang="en-IN" sz="20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617C57-02C7-3C56-8FC4-637B5092BBA8}"/>
              </a:ext>
            </a:extLst>
          </p:cNvPr>
          <p:cNvSpPr txBox="1"/>
          <p:nvPr/>
        </p:nvSpPr>
        <p:spPr>
          <a:xfrm>
            <a:off x="5485565" y="538110"/>
            <a:ext cx="308050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Output for Null </a:t>
            </a:r>
            <a:endParaRPr lang="en-IN" sz="1800" dirty="0"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7589AB-2A91-31C1-0E35-6F2379E13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86" y="722776"/>
            <a:ext cx="4718015" cy="1252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DFFD39-FC2A-B2EC-D615-B9FF97F75D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293"/>
          <a:stretch>
            <a:fillRect/>
          </a:stretch>
        </p:blipFill>
        <p:spPr>
          <a:xfrm>
            <a:off x="6030686" y="907443"/>
            <a:ext cx="2535383" cy="10095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3A3D8D-2F15-3AA7-18FB-A6B28C5CD945}"/>
              </a:ext>
            </a:extLst>
          </p:cNvPr>
          <p:cNvSpPr txBox="1"/>
          <p:nvPr/>
        </p:nvSpPr>
        <p:spPr>
          <a:xfrm>
            <a:off x="321939" y="2290305"/>
            <a:ext cx="1032725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NULL values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found in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Traffic_Delay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 Therefore, no replacement was required.</a:t>
            </a:r>
            <a:endParaRPr lang="en-IN" sz="18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E6F6F-F481-1603-5D55-B89424849251}"/>
              </a:ext>
            </a:extLst>
          </p:cNvPr>
          <p:cNvSpPr txBox="1"/>
          <p:nvPr/>
        </p:nvSpPr>
        <p:spPr>
          <a:xfrm>
            <a:off x="484631" y="3139882"/>
            <a:ext cx="9000368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Convert all date columns into YYYY-MM-DD format using SQL functions</a:t>
            </a:r>
            <a:endParaRPr lang="en-IN" sz="20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574F6B-03BB-F253-C5C1-85B2C2996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939" y="3701049"/>
            <a:ext cx="5321866" cy="23558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BCAFB3-DC40-0AB9-3422-D903A20CA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746" y="3701049"/>
            <a:ext cx="5723016" cy="23558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1206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E6F8-A7F6-9FDF-5D90-D055B3E15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B7ACB-3484-1E29-7E94-F0F1DFD3AB6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2" y="6217920"/>
            <a:ext cx="4433732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C4_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Project_Logistics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for Delivery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Routes_UPS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9989D-6942-6A7A-6CA6-9DF3CE90E0B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525F98-93C5-298A-3B06-270585CF3DCB}"/>
              </a:ext>
            </a:extLst>
          </p:cNvPr>
          <p:cNvSpPr txBox="1"/>
          <p:nvPr/>
        </p:nvSpPr>
        <p:spPr>
          <a:xfrm>
            <a:off x="-764766" y="97041"/>
            <a:ext cx="1042987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Convert all date columns into YYYY-MM-DD format using SQL functions.</a:t>
            </a:r>
            <a:endParaRPr lang="en-IN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4F8C83-A1A3-7752-9D9E-7B793A589088}"/>
              </a:ext>
            </a:extLst>
          </p:cNvPr>
          <p:cNvSpPr txBox="1"/>
          <p:nvPr/>
        </p:nvSpPr>
        <p:spPr>
          <a:xfrm>
            <a:off x="8572257" y="391430"/>
            <a:ext cx="308050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Output</a:t>
            </a:r>
            <a:endParaRPr lang="en-IN" sz="1800" dirty="0"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8784E-C36F-0CA8-8ECE-C1309FE93267}"/>
              </a:ext>
            </a:extLst>
          </p:cNvPr>
          <p:cNvSpPr txBox="1"/>
          <p:nvPr/>
        </p:nvSpPr>
        <p:spPr>
          <a:xfrm>
            <a:off x="-692632" y="2803537"/>
            <a:ext cx="7924119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4.Ensure that no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Actual_Delivery_Date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before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endParaRPr lang="en-IN" sz="18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90A5F4-935B-398C-DDDF-0FEBCB99A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806087"/>
            <a:ext cx="6512729" cy="14496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3E9A23-7215-D272-087C-615389BBD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487" y="731614"/>
            <a:ext cx="4867242" cy="15998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8EDEB5-9076-ED9A-1D58-4CF1B2CAED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17" y="3429000"/>
            <a:ext cx="4797346" cy="11331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5034A1-A006-FCB9-CF4C-22B64BDAF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17" y="5112491"/>
            <a:ext cx="8258392" cy="10138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FE7E4C6-82E8-16E4-83A0-7DB3E370E1E5}"/>
              </a:ext>
            </a:extLst>
          </p:cNvPr>
          <p:cNvSpPr txBox="1"/>
          <p:nvPr/>
        </p:nvSpPr>
        <p:spPr>
          <a:xfrm>
            <a:off x="-350070" y="4801454"/>
            <a:ext cx="308050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Output</a:t>
            </a:r>
            <a:endParaRPr lang="en-IN" sz="1800" dirty="0"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FE52B-26F7-2FDD-7147-B3186C1AD0CC}"/>
              </a:ext>
            </a:extLst>
          </p:cNvPr>
          <p:cNvSpPr txBox="1"/>
          <p:nvPr/>
        </p:nvSpPr>
        <p:spPr>
          <a:xfrm>
            <a:off x="7342909" y="3644974"/>
            <a:ext cx="2923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Actual_Delivery_Date</a:t>
            </a:r>
            <a:r>
              <a:rPr lang="en-US" dirty="0"/>
              <a:t> is not earlier than </a:t>
            </a:r>
            <a:r>
              <a:rPr lang="en-US" dirty="0" err="1"/>
              <a:t>Order_Date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2916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A0B9-0957-3AAF-4873-155C5665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3DAC21-F048-7C03-FD2B-E8730064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1333200" cy="69688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Calculate delivery delay (in days) for each order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68698-1E07-4518-F5ED-580E83E93C9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2" y="6217920"/>
            <a:ext cx="4281332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C4_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Project_Logistics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for Delivery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Routes_UPS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AE9DB-CD5E-33E7-A044-6E91B7AB617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603BDA-A0A9-990C-BE49-89F9AD868BFB}"/>
              </a:ext>
            </a:extLst>
          </p:cNvPr>
          <p:cNvSpPr txBox="1"/>
          <p:nvPr/>
        </p:nvSpPr>
        <p:spPr>
          <a:xfrm>
            <a:off x="581709" y="1677669"/>
            <a:ext cx="5361891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Calculate delivery delay (in days) for each order</a:t>
            </a:r>
            <a:endParaRPr lang="en-IN" sz="20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DCC2E5-5854-AFA3-69F3-56278E410E9F}"/>
              </a:ext>
            </a:extLst>
          </p:cNvPr>
          <p:cNvSpPr txBox="1"/>
          <p:nvPr/>
        </p:nvSpPr>
        <p:spPr>
          <a:xfrm>
            <a:off x="-455206" y="3776172"/>
            <a:ext cx="308050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D40F6B-649C-764D-6D90-1421CBC74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10" y="2268699"/>
            <a:ext cx="7994254" cy="14443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358EE1-FE46-20EF-A80C-85DA5C3BA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355" y="4145504"/>
            <a:ext cx="4505954" cy="199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3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D1A66-626F-F6D1-808F-561AC365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93C10-D941-ADE5-EB1C-D6A3D2658B4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2" y="6217920"/>
            <a:ext cx="4336958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C4_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Project_Logistics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for Delivery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Routes_UPS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20F76-C4B3-3E18-DAFF-ACA12AAED52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E9D6D-D27C-67AD-6DAB-29F0F3C6DE78}"/>
              </a:ext>
            </a:extLst>
          </p:cNvPr>
          <p:cNvSpPr txBox="1"/>
          <p:nvPr/>
        </p:nvSpPr>
        <p:spPr>
          <a:xfrm>
            <a:off x="718747" y="252882"/>
            <a:ext cx="8440669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Find Top 10 delayed routes based on average delay days</a:t>
            </a:r>
            <a:endParaRPr lang="en-IN" sz="20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54E3F2-8DA2-7549-2306-0CFD4A80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30" y="1110409"/>
            <a:ext cx="7026695" cy="20899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AAD475-CA48-ED6B-36DB-11A064E0D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813" y="1138118"/>
            <a:ext cx="2745356" cy="27134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282F8A-A1ED-3EB4-A144-05BDDFFB503D}"/>
              </a:ext>
            </a:extLst>
          </p:cNvPr>
          <p:cNvSpPr txBox="1"/>
          <p:nvPr/>
        </p:nvSpPr>
        <p:spPr>
          <a:xfrm>
            <a:off x="718748" y="3539837"/>
            <a:ext cx="67402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 window functions to rank all orders by delay within each warehouse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64937D-1803-8CFE-6C10-0063D736E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30" y="4267728"/>
            <a:ext cx="5822836" cy="19501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720333-7707-9316-FB6F-D889E8235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211" y="4104336"/>
            <a:ext cx="4336958" cy="219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139DC-18EF-F9DE-A32D-ACDFC331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D80DE2-7019-88B0-AC58-38C216A6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717620"/>
          </a:xfrm>
        </p:spPr>
        <p:txBody>
          <a:bodyPr/>
          <a:lstStyle/>
          <a:p>
            <a:r>
              <a:rPr lang="en-US" dirty="0"/>
              <a:t>Task 3: </a:t>
            </a:r>
            <a:r>
              <a:rPr lang="en-IN" dirty="0"/>
              <a:t>Route Optimization Insights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61C16-E835-39D9-AFB7-93F737FCFFF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2" y="6217920"/>
            <a:ext cx="4281332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C4_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Project_Logistics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for Delivery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Routes_UPS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F9217-23CE-D616-08A5-ED99F1E0490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241F2-BD08-D84C-B918-F745E5F76E87}"/>
              </a:ext>
            </a:extLst>
          </p:cNvPr>
          <p:cNvSpPr txBox="1"/>
          <p:nvPr/>
        </p:nvSpPr>
        <p:spPr>
          <a:xfrm>
            <a:off x="581709" y="1671113"/>
            <a:ext cx="3534622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Average delivery time (in days)</a:t>
            </a:r>
            <a:endParaRPr lang="en-IN" sz="20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1C730-8462-1EA5-21A5-9A74DCF04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7" y="2112135"/>
            <a:ext cx="5409381" cy="1102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11313F-CF1F-E738-1C82-F4ED1CFCF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375" y="1474449"/>
            <a:ext cx="1714591" cy="17398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983BC2-1405-F802-8F8D-7FEAF32278A0}"/>
              </a:ext>
            </a:extLst>
          </p:cNvPr>
          <p:cNvSpPr txBox="1"/>
          <p:nvPr/>
        </p:nvSpPr>
        <p:spPr>
          <a:xfrm>
            <a:off x="581709" y="3327840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Average traffic delay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476F84-A93D-B7CE-83B1-3D7D91E05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07" y="3887231"/>
            <a:ext cx="4601376" cy="12157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75935E-16C1-2A3A-AD3B-F207F720A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405" y="3616037"/>
            <a:ext cx="2639584" cy="191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4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C988-236B-528E-6974-D601F204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CFB4B-2BEB-0735-7D87-6CE8FC06147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7DD64-6DAB-40F4-C51A-D71A5538F27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2C896-DD8B-E81F-AED2-C832F7951AB7}"/>
              </a:ext>
            </a:extLst>
          </p:cNvPr>
          <p:cNvSpPr txBox="1"/>
          <p:nvPr/>
        </p:nvSpPr>
        <p:spPr>
          <a:xfrm>
            <a:off x="-446112" y="151093"/>
            <a:ext cx="1042987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Distance-to-time efficiency ratio: </a:t>
            </a:r>
            <a:r>
              <a:rPr lang="en-US" sz="2000" dirty="0" err="1"/>
              <a:t>Distance_KM</a:t>
            </a:r>
            <a:r>
              <a:rPr lang="en-US" sz="2000" dirty="0"/>
              <a:t> / </a:t>
            </a:r>
            <a:r>
              <a:rPr lang="en-US" sz="2000" dirty="0" err="1"/>
              <a:t>Average_Travel_Time_Min</a:t>
            </a:r>
            <a:r>
              <a:rPr lang="en-US" sz="2000" dirty="0"/>
              <a:t>.</a:t>
            </a:r>
            <a:endParaRPr lang="en-IN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940F7-917D-4E18-DA0B-E016D7C8236C}"/>
              </a:ext>
            </a:extLst>
          </p:cNvPr>
          <p:cNvSpPr txBox="1"/>
          <p:nvPr/>
        </p:nvSpPr>
        <p:spPr>
          <a:xfrm>
            <a:off x="645321" y="2390595"/>
            <a:ext cx="4786117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Identify 3 routes with the worst efficiency ratio</a:t>
            </a:r>
            <a:endParaRPr lang="en-IN" sz="18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2E1ED-F3A2-4042-EA3F-2210FB053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021" y="658338"/>
            <a:ext cx="5350740" cy="16251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69EF5C-E8F4-E30A-4EA1-1043505DE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35" y="676347"/>
            <a:ext cx="5121445" cy="1630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697373-1133-72DF-A2C0-0AA3E8066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76" y="2849053"/>
            <a:ext cx="5298446" cy="21662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B52C9F-E080-3E5D-2907-FA7BC526D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283" y="2806983"/>
            <a:ext cx="5923035" cy="137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4616-22DE-8432-8D2D-DDDFA9F9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92FC2-02FD-62BC-8081-5C0F53FCC43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15EED-BD3A-738B-0A33-3E48AE321A7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4539B2-1E15-35F5-F2A9-6D149A5E4205}"/>
              </a:ext>
            </a:extLst>
          </p:cNvPr>
          <p:cNvSpPr txBox="1"/>
          <p:nvPr/>
        </p:nvSpPr>
        <p:spPr>
          <a:xfrm>
            <a:off x="-2219494" y="172123"/>
            <a:ext cx="1042987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Routes with &gt;20% Delayed Shipments</a:t>
            </a:r>
            <a:endParaRPr lang="en-IN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33BB4A-2493-F6AE-1DE7-947AFA12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27" y="581238"/>
            <a:ext cx="10419442" cy="2557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1AE5C4-A052-D5FB-3472-093697590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27" y="3233569"/>
            <a:ext cx="6138272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1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3422-8257-8554-E1EA-DA9D1D427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586A1-9E84-D434-47FF-CC30CB5582B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88AC2-68A9-D019-E7E9-4FB9223CB08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45B24-374D-C72A-EF88-04264F79B178}"/>
              </a:ext>
            </a:extLst>
          </p:cNvPr>
          <p:cNvSpPr txBox="1"/>
          <p:nvPr/>
        </p:nvSpPr>
        <p:spPr>
          <a:xfrm>
            <a:off x="-1983966" y="252882"/>
            <a:ext cx="1042987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Recommend potential routes for optimization. </a:t>
            </a:r>
            <a:endParaRPr lang="en-IN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6F340-B7D7-D0CF-7E3C-D8B630E3D126}"/>
              </a:ext>
            </a:extLst>
          </p:cNvPr>
          <p:cNvSpPr txBox="1"/>
          <p:nvPr/>
        </p:nvSpPr>
        <p:spPr>
          <a:xfrm>
            <a:off x="484632" y="652992"/>
            <a:ext cx="112376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We should give priority to routes that are showing weak efficiency and have more than 20% of shipments running late. These routes are struggling with poor distance-to-time performance and repeated delivery delays. To address this, we can take practical steps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Adjusting routes dynamically when conditions 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Scheduling dispatches with traffic patterns in mind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Assigning experienced drivers to challenging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Streamlining warehouse operations to cut down processing time</a:t>
            </a:r>
          </a:p>
          <a:p>
            <a:pPr>
              <a:buNone/>
            </a:pPr>
            <a:r>
              <a:rPr lang="en-US" dirty="0"/>
              <a:t>By focusing on these improvements, we’ll strengthen reliability and ensure deliveries reach customers on time</a:t>
            </a:r>
          </a:p>
        </p:txBody>
      </p:sp>
    </p:spTree>
    <p:extLst>
      <p:ext uri="{BB962C8B-B14F-4D97-AF65-F5344CB8AC3E}">
        <p14:creationId xmlns:p14="http://schemas.microsoft.com/office/powerpoint/2010/main" val="3756458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6A50-1EF5-F316-99D0-7082308F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5333E-506F-5383-3082-310D4C39B6A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BEB10-5051-915E-5E38-2C223866454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04C0BFD-2F00-A49D-0FE1-87E037DAC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86" y="185128"/>
            <a:ext cx="10889796" cy="717620"/>
          </a:xfrm>
        </p:spPr>
        <p:txBody>
          <a:bodyPr/>
          <a:lstStyle/>
          <a:p>
            <a:r>
              <a:rPr lang="en-IN" dirty="0"/>
              <a:t>Task 4: Warehouse Performance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458F3-6393-B783-9309-DECD6E2F66BD}"/>
              </a:ext>
            </a:extLst>
          </p:cNvPr>
          <p:cNvSpPr txBox="1"/>
          <p:nvPr/>
        </p:nvSpPr>
        <p:spPr>
          <a:xfrm>
            <a:off x="566385" y="902748"/>
            <a:ext cx="10392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the top 3 warehouses with the highest average processing time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63E7D2-7547-1E91-40EF-3E72E6C41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3" y="1512172"/>
            <a:ext cx="5832660" cy="22978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CBD1D6-D4B5-C89B-51E7-0E6643502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781" y="2244436"/>
            <a:ext cx="4745973" cy="15005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B06648-B6DC-4535-DBF9-2C384F70C902}"/>
              </a:ext>
            </a:extLst>
          </p:cNvPr>
          <p:cNvSpPr txBox="1"/>
          <p:nvPr/>
        </p:nvSpPr>
        <p:spPr>
          <a:xfrm>
            <a:off x="637413" y="4050092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Calculate total vs. delayed shipments for each warehouse. 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FBAE2E-3919-1429-0752-951956F5F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542" y="4197928"/>
            <a:ext cx="4266637" cy="19549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02B5D3-962B-1119-4092-03EA026F5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413" y="4443660"/>
            <a:ext cx="6163535" cy="170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3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CBA22-D284-AD0F-92F6-FFB45793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9E087-9A2E-D9FA-4214-56A5A0BB2CB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47644-D5D4-E2BA-4C5D-460A759CCD7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EE456-1DEB-1F51-374B-194E29EB34EE}"/>
              </a:ext>
            </a:extLst>
          </p:cNvPr>
          <p:cNvSpPr txBox="1"/>
          <p:nvPr/>
        </p:nvSpPr>
        <p:spPr>
          <a:xfrm>
            <a:off x="862446" y="3540220"/>
            <a:ext cx="5739264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Rank warehouses based on on-time delivery percentage.</a:t>
            </a:r>
            <a:endParaRPr lang="en-IN" sz="18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B8BC12-CBA9-0441-041A-F0373704A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46" y="858850"/>
            <a:ext cx="5233554" cy="23465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E76474-265B-EFD8-E1FC-CC192E5115B2}"/>
              </a:ext>
            </a:extLst>
          </p:cNvPr>
          <p:cNvSpPr txBox="1"/>
          <p:nvPr/>
        </p:nvSpPr>
        <p:spPr>
          <a:xfrm>
            <a:off x="862446" y="274955"/>
            <a:ext cx="868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CTEs to find bottleneck warehouses where processing time &gt; global average.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54A461-EDFE-162B-F3A1-DC4846362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154" y="1223975"/>
            <a:ext cx="5566989" cy="19091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D7AA3A-1A79-A2A0-BEBE-2B24DFAA4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451" y="3928142"/>
            <a:ext cx="10670309" cy="206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66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6A23-0334-F13E-46C6-6830DBE6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D6C4-483A-D978-6CE5-351D57F02FB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D8FF8-1D58-AF00-673D-5992FC76640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FA9744-AD55-DEBB-E908-2E74C84DF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86" y="274955"/>
            <a:ext cx="6681850" cy="2974238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973EADA-B2D0-F455-090F-7C6D842ECB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8806336"/>
              </p:ext>
            </p:extLst>
          </p:nvPr>
        </p:nvGraphicFramePr>
        <p:xfrm>
          <a:off x="942535" y="3249193"/>
          <a:ext cx="8932985" cy="3151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74599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535C34F-CFA6-C0AD-B6D6-53F8D402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356413"/>
            <a:ext cx="10889796" cy="650062"/>
          </a:xfrm>
        </p:spPr>
        <p:txBody>
          <a:bodyPr/>
          <a:lstStyle/>
          <a:p>
            <a:r>
              <a:rPr lang="en-US" dirty="0"/>
              <a:t>Task 5: Delivery Agent Performance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8C9548-3BE7-0BE7-3791-96C4C8432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29" y="1740378"/>
            <a:ext cx="7096775" cy="16886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2C0505-1380-E73F-8300-796068CCF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540" y="1740378"/>
            <a:ext cx="4107784" cy="16886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6F5090-2038-81C8-F8BA-36D0D73FF0B4}"/>
              </a:ext>
            </a:extLst>
          </p:cNvPr>
          <p:cNvSpPr txBox="1"/>
          <p:nvPr/>
        </p:nvSpPr>
        <p:spPr>
          <a:xfrm>
            <a:off x="484632" y="1188760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-- Rank agents (per route) by on-time delivery percentage--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CB279E-8903-EA79-AC55-CE79F6A411F7}"/>
              </a:ext>
            </a:extLst>
          </p:cNvPr>
          <p:cNvSpPr txBox="1"/>
          <p:nvPr/>
        </p:nvSpPr>
        <p:spPr>
          <a:xfrm>
            <a:off x="597929" y="3518674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agents with on-time % &lt; 80%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D67066-FA04-C3CF-6A60-44EFE4EA8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8" y="3977679"/>
            <a:ext cx="6266658" cy="168862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BC1630-424C-B9EB-22BA-2AEB2C744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5540" y="3795395"/>
            <a:ext cx="3878438" cy="204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DFBB7-4AA5-D1C8-CA58-51887D879D2A}"/>
              </a:ext>
            </a:extLst>
          </p:cNvPr>
          <p:cNvSpPr txBox="1"/>
          <p:nvPr/>
        </p:nvSpPr>
        <p:spPr>
          <a:xfrm>
            <a:off x="734291" y="274955"/>
            <a:ext cx="8797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Compare average speed of top 5 vs bottom 5 agents using subqueries</a:t>
            </a:r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700950-8AFF-890C-F7F6-1E1A8747F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91" y="978998"/>
            <a:ext cx="5361709" cy="23045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AAF53A-7B33-1EC1-0013-195E614D7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544" y="1826662"/>
            <a:ext cx="2820536" cy="10274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139CC8-44B8-4786-2974-EAFCF9080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544" y="803564"/>
            <a:ext cx="2820536" cy="9904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F2BBA2-F9B8-DB56-55C9-FBAA47A3D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91" y="4028272"/>
            <a:ext cx="4901986" cy="21896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FDB8FB2-1E10-3FC2-8F3D-18B0867BF4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157" y="3188854"/>
            <a:ext cx="5238012" cy="321162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A2E8630-020D-3164-D978-CFFE121CA234}"/>
              </a:ext>
            </a:extLst>
          </p:cNvPr>
          <p:cNvSpPr txBox="1"/>
          <p:nvPr/>
        </p:nvSpPr>
        <p:spPr>
          <a:xfrm>
            <a:off x="2660073" y="598120"/>
            <a:ext cx="76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top 5 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A77B86-274C-1F28-3048-48F1DA14B103}"/>
              </a:ext>
            </a:extLst>
          </p:cNvPr>
          <p:cNvSpPr txBox="1"/>
          <p:nvPr/>
        </p:nvSpPr>
        <p:spPr>
          <a:xfrm>
            <a:off x="2431473" y="3747067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Bottom 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C0C2C-D554-BE28-9F5D-15037ED9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CBE02-A085-A749-1F13-51275D7667D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8DA42-854E-CB2E-CE26-EEDF367C8D3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3EC7A99-F178-3EA4-0C39-016A6CCC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356413"/>
            <a:ext cx="10889796" cy="650062"/>
          </a:xfrm>
        </p:spPr>
        <p:txBody>
          <a:bodyPr/>
          <a:lstStyle/>
          <a:p>
            <a:r>
              <a:rPr lang="en-US" dirty="0"/>
              <a:t>Task 6: </a:t>
            </a:r>
            <a:r>
              <a:rPr lang="en-IN" dirty="0"/>
              <a:t>Shipment Tracking Analytics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88A92-2A83-3759-94CB-24B92785FF27}"/>
              </a:ext>
            </a:extLst>
          </p:cNvPr>
          <p:cNvSpPr txBox="1"/>
          <p:nvPr/>
        </p:nvSpPr>
        <p:spPr>
          <a:xfrm>
            <a:off x="484632" y="1188760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-- </a:t>
            </a:r>
            <a:r>
              <a:rPr lang="en-US" dirty="0"/>
              <a:t>-- For each order, list the last checkpoint and time-- </a:t>
            </a:r>
            <a:r>
              <a:rPr lang="en-IN" dirty="0"/>
              <a:t>-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42B3A-120A-5346-F63A-5A08B303F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243" y="1740378"/>
            <a:ext cx="6293235" cy="42351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2313B4-A129-A83A-01A3-A5B079A8D1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463"/>
          <a:stretch>
            <a:fillRect/>
          </a:stretch>
        </p:blipFill>
        <p:spPr>
          <a:xfrm>
            <a:off x="484632" y="1740378"/>
            <a:ext cx="4904786" cy="1848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A01A85-26A0-C272-6900-585CF867A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05" y="3817917"/>
            <a:ext cx="4505407" cy="217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68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B9B1-0719-B059-B407-473451EB1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8B43A-FF7E-21FE-422A-EE325B65BAA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4EEF1-2454-AF29-D38F-5C2F0C85D93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E0442B-1447-ADDF-5074-E08172D2EB85}"/>
              </a:ext>
            </a:extLst>
          </p:cNvPr>
          <p:cNvSpPr txBox="1"/>
          <p:nvPr/>
        </p:nvSpPr>
        <p:spPr>
          <a:xfrm>
            <a:off x="692728" y="3902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-- </a:t>
            </a:r>
            <a:r>
              <a:rPr lang="en-US" dirty="0"/>
              <a:t>Find the most common delay reasons (excluding None) -</a:t>
            </a:r>
            <a:r>
              <a:rPr lang="en-IN" dirty="0"/>
              <a:t>-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9FDCAAF-870F-CFB2-8B17-A3996C9E5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8" y="1046781"/>
            <a:ext cx="6116968" cy="22644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73D8F4-FF89-2A9D-519D-0EDFBEEC0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696" y="1482436"/>
            <a:ext cx="4103650" cy="1828800"/>
          </a:xfrm>
          <a:prstGeom prst="rect">
            <a:avLst/>
          </a:prstGeom>
        </p:spPr>
      </p:pic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27C61307-C729-7191-F195-CE7F2BF3F0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6260303"/>
              </p:ext>
            </p:extLst>
          </p:nvPr>
        </p:nvGraphicFramePr>
        <p:xfrm>
          <a:off x="815253" y="3546764"/>
          <a:ext cx="7192674" cy="2671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86168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962E2-99D1-27B4-A132-C575F738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397E0-688C-164B-A8D3-6BA7C5EC755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20947-3C48-C231-6FBA-13F664CE457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C5B21A-C001-17A3-ED08-38221802E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43" y="955964"/>
            <a:ext cx="5162347" cy="2573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664D63-92BF-9610-D419-05FC3AC3DCFA}"/>
              </a:ext>
            </a:extLst>
          </p:cNvPr>
          <p:cNvSpPr txBox="1"/>
          <p:nvPr/>
        </p:nvSpPr>
        <p:spPr>
          <a:xfrm>
            <a:off x="484632" y="4734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-- Identify orders with &gt;2 delayed checkpoints--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AAD5C6-64F5-27FA-C249-3AF751910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523" y="955964"/>
            <a:ext cx="3204498" cy="2473036"/>
          </a:xfrm>
          <a:prstGeom prst="rect">
            <a:avLst/>
          </a:prstGeom>
        </p:spPr>
      </p:pic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95429C7-3042-487A-E048-67B58369DC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782829"/>
              </p:ext>
            </p:extLst>
          </p:nvPr>
        </p:nvGraphicFramePr>
        <p:xfrm>
          <a:off x="539238" y="3744884"/>
          <a:ext cx="9823962" cy="2473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11701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6E78-6889-EA68-352F-69027A7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99EE5-20EE-0F66-8566-9984F77CD6F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3B9CB-C0FA-D9D8-93EC-3FF516F37C2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46F13-E6B5-ABEC-2188-00481200552E}"/>
              </a:ext>
            </a:extLst>
          </p:cNvPr>
          <p:cNvSpPr txBox="1"/>
          <p:nvPr/>
        </p:nvSpPr>
        <p:spPr>
          <a:xfrm>
            <a:off x="587829" y="274955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Delivery Delay per Region (</a:t>
            </a:r>
            <a:r>
              <a:rPr lang="en-US" dirty="0" err="1"/>
              <a:t>Start_Location</a:t>
            </a:r>
            <a:r>
              <a:rPr lang="en-US" dirty="0"/>
              <a:t>).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592E65-64AC-E9A3-3949-EB1FD40E0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918180"/>
            <a:ext cx="6848498" cy="21485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22AE03-10D3-EF82-4EB2-D7AA6F603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355" y="375576"/>
            <a:ext cx="2314898" cy="30388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98B163-2C3F-66E2-F3F3-693CFA0A0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29" y="3474720"/>
            <a:ext cx="90011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03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7517-24F0-7454-AECC-AFCA593F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ED472-B0A9-40BE-EC6D-1A511C8EC90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B69ED-3F60-3AD4-E18E-F1421E9C51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C7764-75CE-00FC-5CA3-7E06D8CF9EAA}"/>
              </a:ext>
            </a:extLst>
          </p:cNvPr>
          <p:cNvSpPr txBox="1"/>
          <p:nvPr/>
        </p:nvSpPr>
        <p:spPr>
          <a:xfrm>
            <a:off x="484632" y="274955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On-Time Delivery %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E114F3-90EC-E595-C384-E86EBD575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1" y="892706"/>
            <a:ext cx="10066137" cy="18645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255D47-FF65-872E-6A3A-C0888608C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32" y="4445390"/>
            <a:ext cx="5326968" cy="1301855"/>
          </a:xfrm>
          <a:prstGeom prst="rect">
            <a:avLst/>
          </a:prstGeom>
        </p:spPr>
      </p:pic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AC30F3A1-0C03-52D2-1D49-CAF483F1D5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8185628"/>
              </p:ext>
            </p:extLst>
          </p:nvPr>
        </p:nvGraphicFramePr>
        <p:xfrm>
          <a:off x="6324801" y="3005688"/>
          <a:ext cx="5098663" cy="3215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09441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15B0-EEC5-4481-1D6A-FAB178EE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7474E-287D-034F-EAE4-900B4501867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D1138-0D81-E98B-9EC2-BE1B4574E04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142755-A1AA-9616-CCD6-DC6F7E1DF45B}"/>
              </a:ext>
            </a:extLst>
          </p:cNvPr>
          <p:cNvSpPr txBox="1"/>
          <p:nvPr/>
        </p:nvSpPr>
        <p:spPr>
          <a:xfrm>
            <a:off x="484632" y="274955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Average Traffic Delay per Route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3F0C8-8105-EDD1-3E99-2DF380C68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711912"/>
            <a:ext cx="6366334" cy="27170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57A998-8DBF-50C1-9FD3-B8DADAA14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201" y="1645920"/>
            <a:ext cx="5237799" cy="1783080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B9D08BCA-E74A-A0C8-BC36-A8FDBF1DC1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7474181"/>
              </p:ext>
            </p:extLst>
          </p:nvPr>
        </p:nvGraphicFramePr>
        <p:xfrm>
          <a:off x="484632" y="3600242"/>
          <a:ext cx="7747892" cy="316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262040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1" y="407156"/>
            <a:ext cx="10983215" cy="5909238"/>
          </a:xfrm>
        </p:spPr>
        <p:txBody>
          <a:bodyPr/>
          <a:lstStyle/>
          <a:p>
            <a:r>
              <a:rPr lang="en-US" altLang="zh-CN" dirty="0"/>
              <a:t>Project Link :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Areas of growth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Primary goals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C6C3-3DAD-26D0-66EE-C2182321592B}"/>
              </a:ext>
            </a:extLst>
          </p:cNvPr>
          <p:cNvSpPr txBox="1"/>
          <p:nvPr/>
        </p:nvSpPr>
        <p:spPr>
          <a:xfrm>
            <a:off x="512571" y="3900515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https://drive.google.com/file/d/1nZErB1DANml1fjPy9RQOTEXRKjN17Eg4/view?usp=sharing</a:t>
            </a:r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858</TotalTime>
  <Words>708</Words>
  <Application>Microsoft Office PowerPoint</Application>
  <PresentationFormat>Widescreen</PresentationFormat>
  <Paragraphs>143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等线</vt:lpstr>
      <vt:lpstr>Abadi</vt:lpstr>
      <vt:lpstr>Arial</vt:lpstr>
      <vt:lpstr>Calibri</vt:lpstr>
      <vt:lpstr>Posterama Text Black</vt:lpstr>
      <vt:lpstr>Posterama Text SemiBold</vt:lpstr>
      <vt:lpstr>Times New Roman</vt:lpstr>
      <vt:lpstr>Custom​​</vt:lpstr>
      <vt:lpstr>C4_ Project_Logistics Optimization for Delivery Routes_UPS </vt:lpstr>
      <vt:lpstr>Task 1: Data Cleaning &amp; Preparation</vt:lpstr>
      <vt:lpstr>PowerPoint Presentation</vt:lpstr>
      <vt:lpstr>PowerPoint Presentation</vt:lpstr>
      <vt:lpstr>Task 2: Calculate delivery delay (in days) for each order</vt:lpstr>
      <vt:lpstr>PowerPoint Presentation</vt:lpstr>
      <vt:lpstr>Task 3: Route Optimization Insights</vt:lpstr>
      <vt:lpstr>PowerPoint Presentation</vt:lpstr>
      <vt:lpstr>PowerPoint Presentation</vt:lpstr>
      <vt:lpstr>PowerPoint Presentation</vt:lpstr>
      <vt:lpstr>Task 4: Warehouse Performance</vt:lpstr>
      <vt:lpstr>PowerPoint Presentation</vt:lpstr>
      <vt:lpstr>PowerPoint Presentation</vt:lpstr>
      <vt:lpstr>Task 5: Delivery Agent Performance</vt:lpstr>
      <vt:lpstr>PowerPoint Presentation</vt:lpstr>
      <vt:lpstr>Task 6: Shipment Tracking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Link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L</dc:creator>
  <cp:lastModifiedBy>Praveen L</cp:lastModifiedBy>
  <cp:revision>8</cp:revision>
  <dcterms:created xsi:type="dcterms:W3CDTF">2026-02-10T03:06:02Z</dcterms:created>
  <dcterms:modified xsi:type="dcterms:W3CDTF">2026-02-20T16:46:04Z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